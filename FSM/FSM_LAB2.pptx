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53C5-01FB-867D-B7B8-A599C4C126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D410D1C0-1545-6DA9-1112-40A865CC60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7BD90F88-F018-928B-095F-C6D3C0B12E6D}"/>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9AB56736-728A-9C44-F418-B2EAD3052D8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54274B5-0362-09A1-4BF9-649E841E9170}"/>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2019443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9B44B-33C9-6842-B2F5-00B7CF057E8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36508454-CC9B-17A1-A3EF-9F80F59F97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11C3BE7-8807-C239-61B7-1C999FBC3A6A}"/>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C68F5B21-58A9-8D15-E01B-6356126EC64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AF6BC6B-F48E-FB6A-9CA9-F3E485C1971F}"/>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2779892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EF88-4BB7-C9D5-9095-4CB105E0A2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B08C3E54-EBE0-D11C-F5D7-291A9AF6B7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05AF02-349E-DE84-A6DB-587AB1502749}"/>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F7B16205-B2CD-AC94-3394-DB9C9DAB107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E12B776-7A42-6720-91C7-82A4DA4DEFA6}"/>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1786132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6732B-0F66-C20D-27A3-A41ED16EBB5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1D42F03-022B-6AC9-A4BD-B0B751F4C7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E889022E-F4A0-67B6-46FA-7F0BC8FDE1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67736076-7E17-9DCA-314B-DAA2C424962E}"/>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6" name="Footer Placeholder 5">
            <a:extLst>
              <a:ext uri="{FF2B5EF4-FFF2-40B4-BE49-F238E27FC236}">
                <a16:creationId xmlns:a16="http://schemas.microsoft.com/office/drawing/2014/main" id="{29A20E17-4E83-0EBB-906D-33D819E8D01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10DC406E-1F88-C2EF-1F67-2BBAD9F506DE}"/>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717276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351CA-31E7-5DD2-3D6D-6A69067239EE}"/>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77E9A5EA-BA29-5BCA-ADAF-01AC7D3A4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4FEAB4-B30A-C6F6-1D74-AD467ED6C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2BE3623C-3AD0-A60E-7E1F-301D65D58B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1FEB9F-91DB-C2DE-DA19-A78C4C3FE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614AD579-9A19-B6A1-CA64-F4F07B39475E}"/>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8" name="Footer Placeholder 7">
            <a:extLst>
              <a:ext uri="{FF2B5EF4-FFF2-40B4-BE49-F238E27FC236}">
                <a16:creationId xmlns:a16="http://schemas.microsoft.com/office/drawing/2014/main" id="{3A2FBD2E-7174-8379-936C-DA06F7793E67}"/>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DFB3682D-8D5E-B92E-0D15-30A3C582D238}"/>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3668560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05C31-A243-CA45-E5A5-CF154C0E069E}"/>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1F6C54D1-BF53-5CC8-5B98-0326AB2A463D}"/>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4" name="Footer Placeholder 3">
            <a:extLst>
              <a:ext uri="{FF2B5EF4-FFF2-40B4-BE49-F238E27FC236}">
                <a16:creationId xmlns:a16="http://schemas.microsoft.com/office/drawing/2014/main" id="{F53A6748-AE73-0BD7-9F8D-57ED6F88ADB6}"/>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B58E7616-EA95-5A45-12B3-7BFFF323DE3D}"/>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187809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50786-514B-B3BA-85E2-2019A801E13E}"/>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3" name="Footer Placeholder 2">
            <a:extLst>
              <a:ext uri="{FF2B5EF4-FFF2-40B4-BE49-F238E27FC236}">
                <a16:creationId xmlns:a16="http://schemas.microsoft.com/office/drawing/2014/main" id="{8E15B231-3588-DFE5-0C38-F68EC9CB9B45}"/>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0C0BDEC2-1DF0-3791-F421-86E65DE57091}"/>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127187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8E4A-A445-B7CB-2E1D-17522CDA4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67E8F945-8076-69B9-2E98-2E57646D7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B3927F55-0E1A-235C-D145-259C451846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141F9C-39CE-672A-998D-6BA693F8539B}"/>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6" name="Footer Placeholder 5">
            <a:extLst>
              <a:ext uri="{FF2B5EF4-FFF2-40B4-BE49-F238E27FC236}">
                <a16:creationId xmlns:a16="http://schemas.microsoft.com/office/drawing/2014/main" id="{A119A6E8-D734-A8C4-B265-A6AC71C75550}"/>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95EE294-A2E7-67DE-535C-DDE11FC2EC7E}"/>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15101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6CF0E-4E89-5FA9-478B-31F31D5CA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ED73253B-5DD2-942A-86CF-941B8B4133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A24593A6-4965-2A3E-B290-3C7E8294E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44F61-D084-2962-861B-FB2B6646C228}"/>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6" name="Footer Placeholder 5">
            <a:extLst>
              <a:ext uri="{FF2B5EF4-FFF2-40B4-BE49-F238E27FC236}">
                <a16:creationId xmlns:a16="http://schemas.microsoft.com/office/drawing/2014/main" id="{D22B00DB-6407-5035-04F8-499246A6B7F7}"/>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2BFE1B6E-8E80-8614-B420-C3B7D3AE928A}"/>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483520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B5E1-3895-062C-5F38-535AB8C0D6CE}"/>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C0899525-9E26-E42D-5387-1D4809CBA9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D09AF2D9-F262-2055-43D5-EA264E481B1B}"/>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7AE148BE-574E-17EA-3FD6-F1CCE4A562D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0862493-4EBC-7397-3766-329298A5EEDE}"/>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2257023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6D4D0C-4DC9-8BDD-92C9-F7C47D2C8E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88FA74B-38DE-3CD1-F3DE-71BA3F4590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9EC08E7-26FF-871F-358D-75706B571960}"/>
              </a:ext>
            </a:extLst>
          </p:cNvPr>
          <p:cNvSpPr>
            <a:spLocks noGrp="1"/>
          </p:cNvSpPr>
          <p:nvPr>
            <p:ph type="dt" sz="half" idx="10"/>
          </p:nvPr>
        </p:nvSpPr>
        <p:spPr/>
        <p:txBody>
          <a:body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6BACE2FA-3A63-AEF5-3B88-B73093B4FBC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6496A42-AE1C-521C-56A7-AE42E9FED854}"/>
              </a:ext>
            </a:extLst>
          </p:cNvPr>
          <p:cNvSpPr>
            <a:spLocks noGrp="1"/>
          </p:cNvSpPr>
          <p:nvPr>
            <p:ph type="sldNum" sz="quarter" idx="12"/>
          </p:nvPr>
        </p:nvSpPr>
        <p:spPr/>
        <p:txBody>
          <a:bodyPr/>
          <a:lstStyle/>
          <a:p>
            <a:fld id="{6B14D11E-EF85-4207-9447-B5AAC7A345C0}" type="slidenum">
              <a:rPr lang="en-ID" smtClean="0"/>
              <a:t>‹#›</a:t>
            </a:fld>
            <a:endParaRPr lang="en-ID"/>
          </a:p>
        </p:txBody>
      </p:sp>
    </p:spTree>
    <p:extLst>
      <p:ext uri="{BB962C8B-B14F-4D97-AF65-F5344CB8AC3E}">
        <p14:creationId xmlns:p14="http://schemas.microsoft.com/office/powerpoint/2010/main" val="3591640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702970-BC91-C006-ECCD-DB314C858D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82304F45-E3CE-9820-F6B8-BD449DE0B6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0B0728C-4584-00E6-1114-D95F5267D0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463738-097D-4BEA-B386-722F0E4C08BB}" type="datetimeFigureOut">
              <a:rPr lang="en-ID" smtClean="0"/>
              <a:t>21/12/2025</a:t>
            </a:fld>
            <a:endParaRPr lang="en-ID"/>
          </a:p>
        </p:txBody>
      </p:sp>
      <p:sp>
        <p:nvSpPr>
          <p:cNvPr id="5" name="Footer Placeholder 4">
            <a:extLst>
              <a:ext uri="{FF2B5EF4-FFF2-40B4-BE49-F238E27FC236}">
                <a16:creationId xmlns:a16="http://schemas.microsoft.com/office/drawing/2014/main" id="{5C8AA272-E1EA-B713-193F-5FB53C535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CDC783E6-111E-E9F5-6F6A-04DEDE1235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14D11E-EF85-4207-9447-B5AAC7A345C0}" type="slidenum">
              <a:rPr lang="en-ID" smtClean="0"/>
              <a:t>‹#›</a:t>
            </a:fld>
            <a:endParaRPr lang="en-ID"/>
          </a:p>
        </p:txBody>
      </p:sp>
    </p:spTree>
    <p:extLst>
      <p:ext uri="{BB962C8B-B14F-4D97-AF65-F5344CB8AC3E}">
        <p14:creationId xmlns:p14="http://schemas.microsoft.com/office/powerpoint/2010/main" val="268781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086537D3-7AD8-F10A-DC99-E1BC46530EFB}"/>
              </a:ext>
            </a:extLst>
          </p:cNvPr>
          <p:cNvSpPr/>
          <p:nvPr/>
        </p:nvSpPr>
        <p:spPr>
          <a:xfrm>
            <a:off x="4324147" y="2113604"/>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Idle</a:t>
            </a:r>
            <a:endParaRPr lang="en-ID"/>
          </a:p>
        </p:txBody>
      </p:sp>
      <p:sp>
        <p:nvSpPr>
          <p:cNvPr id="5" name="Oval 4">
            <a:extLst>
              <a:ext uri="{FF2B5EF4-FFF2-40B4-BE49-F238E27FC236}">
                <a16:creationId xmlns:a16="http://schemas.microsoft.com/office/drawing/2014/main" id="{B2CA0BDE-2797-F963-113E-BB866F3D43A8}"/>
              </a:ext>
            </a:extLst>
          </p:cNvPr>
          <p:cNvSpPr/>
          <p:nvPr/>
        </p:nvSpPr>
        <p:spPr>
          <a:xfrm>
            <a:off x="2756961" y="322291"/>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Load</a:t>
            </a:r>
            <a:endParaRPr lang="en-ID"/>
          </a:p>
        </p:txBody>
      </p:sp>
      <p:sp>
        <p:nvSpPr>
          <p:cNvPr id="6" name="Oval 5">
            <a:extLst>
              <a:ext uri="{FF2B5EF4-FFF2-40B4-BE49-F238E27FC236}">
                <a16:creationId xmlns:a16="http://schemas.microsoft.com/office/drawing/2014/main" id="{286DB7D3-E7E2-5B5F-B8C0-694B18F05304}"/>
              </a:ext>
            </a:extLst>
          </p:cNvPr>
          <p:cNvSpPr/>
          <p:nvPr/>
        </p:nvSpPr>
        <p:spPr>
          <a:xfrm>
            <a:off x="6262163" y="759784"/>
            <a:ext cx="1635760" cy="1366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Update_median</a:t>
            </a:r>
            <a:endParaRPr lang="en-ID"/>
          </a:p>
        </p:txBody>
      </p:sp>
      <p:sp>
        <p:nvSpPr>
          <p:cNvPr id="7" name="Oval 6">
            <a:extLst>
              <a:ext uri="{FF2B5EF4-FFF2-40B4-BE49-F238E27FC236}">
                <a16:creationId xmlns:a16="http://schemas.microsoft.com/office/drawing/2014/main" id="{38D4C0D5-96EC-3C35-7A32-132F5E55FF2C}"/>
              </a:ext>
            </a:extLst>
          </p:cNvPr>
          <p:cNvSpPr/>
          <p:nvPr/>
        </p:nvSpPr>
        <p:spPr>
          <a:xfrm>
            <a:off x="4159041" y="4894291"/>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Inc_col</a:t>
            </a:r>
            <a:endParaRPr lang="en-ID"/>
          </a:p>
        </p:txBody>
      </p:sp>
      <p:sp>
        <p:nvSpPr>
          <p:cNvPr id="8" name="Oval 7">
            <a:extLst>
              <a:ext uri="{FF2B5EF4-FFF2-40B4-BE49-F238E27FC236}">
                <a16:creationId xmlns:a16="http://schemas.microsoft.com/office/drawing/2014/main" id="{47BACCCC-4A27-7048-F087-5E73A0A45C17}"/>
              </a:ext>
            </a:extLst>
          </p:cNvPr>
          <p:cNvSpPr/>
          <p:nvPr/>
        </p:nvSpPr>
        <p:spPr>
          <a:xfrm>
            <a:off x="7333397" y="3336600"/>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Write </a:t>
            </a:r>
            <a:endParaRPr lang="en-ID"/>
          </a:p>
        </p:txBody>
      </p:sp>
      <p:sp>
        <p:nvSpPr>
          <p:cNvPr id="9" name="Oval 8">
            <a:extLst>
              <a:ext uri="{FF2B5EF4-FFF2-40B4-BE49-F238E27FC236}">
                <a16:creationId xmlns:a16="http://schemas.microsoft.com/office/drawing/2014/main" id="{3904AA41-6968-7307-81A7-18E4097E1CA7}"/>
              </a:ext>
            </a:extLst>
          </p:cNvPr>
          <p:cNvSpPr/>
          <p:nvPr/>
        </p:nvSpPr>
        <p:spPr>
          <a:xfrm>
            <a:off x="10371237" y="4769455"/>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Inc_row</a:t>
            </a:r>
            <a:endParaRPr lang="en-ID"/>
          </a:p>
        </p:txBody>
      </p:sp>
      <p:cxnSp>
        <p:nvCxnSpPr>
          <p:cNvPr id="11" name="Connector: Curved 10">
            <a:extLst>
              <a:ext uri="{FF2B5EF4-FFF2-40B4-BE49-F238E27FC236}">
                <a16:creationId xmlns:a16="http://schemas.microsoft.com/office/drawing/2014/main" id="{2C0ECE28-E110-74D4-F28E-2863D99FCD52}"/>
              </a:ext>
            </a:extLst>
          </p:cNvPr>
          <p:cNvCxnSpPr>
            <a:cxnSpLocks/>
            <a:stCxn id="4" idx="2"/>
            <a:endCxn id="4" idx="0"/>
          </p:cNvCxnSpPr>
          <p:nvPr/>
        </p:nvCxnSpPr>
        <p:spPr>
          <a:xfrm rot="10800000" flipH="1">
            <a:off x="4324147" y="2113604"/>
            <a:ext cx="701040" cy="622300"/>
          </a:xfrm>
          <a:prstGeom prst="curvedConnector4">
            <a:avLst>
              <a:gd name="adj1" fmla="val -32609"/>
              <a:gd name="adj2" fmla="val 1367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57796CB-B46D-2966-5D5B-CBC2A7230710}"/>
              </a:ext>
            </a:extLst>
          </p:cNvPr>
          <p:cNvCxnSpPr>
            <a:cxnSpLocks/>
            <a:stCxn id="5" idx="6"/>
            <a:endCxn id="6" idx="2"/>
          </p:cNvCxnSpPr>
          <p:nvPr/>
        </p:nvCxnSpPr>
        <p:spPr>
          <a:xfrm>
            <a:off x="4159041" y="944591"/>
            <a:ext cx="2103122" cy="4984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A7B125A-41AD-6607-C04E-C2A9B105FAD6}"/>
              </a:ext>
            </a:extLst>
          </p:cNvPr>
          <p:cNvCxnSpPr>
            <a:cxnSpLocks/>
            <a:stCxn id="6" idx="5"/>
            <a:endCxn id="8" idx="0"/>
          </p:cNvCxnSpPr>
          <p:nvPr/>
        </p:nvCxnSpPr>
        <p:spPr>
          <a:xfrm>
            <a:off x="7658371" y="1926182"/>
            <a:ext cx="376066" cy="1410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307E648-3581-C5AE-FC62-1F34414D6F72}"/>
              </a:ext>
            </a:extLst>
          </p:cNvPr>
          <p:cNvCxnSpPr>
            <a:cxnSpLocks/>
            <a:stCxn id="8" idx="5"/>
            <a:endCxn id="9" idx="1"/>
          </p:cNvCxnSpPr>
          <p:nvPr/>
        </p:nvCxnSpPr>
        <p:spPr>
          <a:xfrm>
            <a:off x="8530147" y="4398933"/>
            <a:ext cx="2046420" cy="552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6B9F128-13D7-FD2E-6ACA-0F66E0463ABC}"/>
              </a:ext>
            </a:extLst>
          </p:cNvPr>
          <p:cNvCxnSpPr>
            <a:stCxn id="8" idx="3"/>
            <a:endCxn id="7" idx="7"/>
          </p:cNvCxnSpPr>
          <p:nvPr/>
        </p:nvCxnSpPr>
        <p:spPr>
          <a:xfrm flipH="1">
            <a:off x="5355791" y="4398933"/>
            <a:ext cx="2182936" cy="677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F0F46AD4-7C67-983D-8469-F6F6763BD4B0}"/>
              </a:ext>
            </a:extLst>
          </p:cNvPr>
          <p:cNvCxnSpPr>
            <a:stCxn id="8" idx="2"/>
            <a:endCxn id="4" idx="6"/>
          </p:cNvCxnSpPr>
          <p:nvPr/>
        </p:nvCxnSpPr>
        <p:spPr>
          <a:xfrm flipH="1" flipV="1">
            <a:off x="5726227" y="2735904"/>
            <a:ext cx="1607170" cy="12229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F6542AF-5DF1-9F3C-B162-7A6967636F3E}"/>
              </a:ext>
            </a:extLst>
          </p:cNvPr>
          <p:cNvCxnSpPr>
            <a:cxnSpLocks/>
            <a:stCxn id="9" idx="0"/>
          </p:cNvCxnSpPr>
          <p:nvPr/>
        </p:nvCxnSpPr>
        <p:spPr>
          <a:xfrm flipH="1" flipV="1">
            <a:off x="11053373" y="598746"/>
            <a:ext cx="18904" cy="4170709"/>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975B982D-F2D6-E1A3-F39D-D2F03C2CE6ED}"/>
              </a:ext>
            </a:extLst>
          </p:cNvPr>
          <p:cNvCxnSpPr>
            <a:cxnSpLocks/>
            <a:endCxn id="5" idx="7"/>
          </p:cNvCxnSpPr>
          <p:nvPr/>
        </p:nvCxnSpPr>
        <p:spPr>
          <a:xfrm flipH="1" flipV="1">
            <a:off x="3953711" y="504558"/>
            <a:ext cx="7099662" cy="1157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951A01B2-D9CD-635E-F233-57043FED3C1F}"/>
              </a:ext>
            </a:extLst>
          </p:cNvPr>
          <p:cNvCxnSpPr>
            <a:cxnSpLocks/>
            <a:stCxn id="4" idx="3"/>
            <a:endCxn id="5" idx="4"/>
          </p:cNvCxnSpPr>
          <p:nvPr/>
        </p:nvCxnSpPr>
        <p:spPr>
          <a:xfrm rot="5400000" flipH="1">
            <a:off x="3189216" y="1835676"/>
            <a:ext cx="1609046" cy="1071476"/>
          </a:xfrm>
          <a:prstGeom prst="curvedConnector3">
            <a:avLst>
              <a:gd name="adj1" fmla="val -255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4A62183-E5E5-3B18-06CD-8938417AB1D8}"/>
              </a:ext>
            </a:extLst>
          </p:cNvPr>
          <p:cNvCxnSpPr>
            <a:stCxn id="7" idx="3"/>
            <a:endCxn id="5" idx="2"/>
          </p:cNvCxnSpPr>
          <p:nvPr/>
        </p:nvCxnSpPr>
        <p:spPr>
          <a:xfrm rot="5400000" flipH="1">
            <a:off x="1054649" y="2646903"/>
            <a:ext cx="5012033" cy="1607410"/>
          </a:xfrm>
          <a:prstGeom prst="curvedConnector4">
            <a:avLst>
              <a:gd name="adj1" fmla="val -8198"/>
              <a:gd name="adj2" fmla="val 114222"/>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C8BDB75E-B75A-31EC-4E89-8BD22249EB87}"/>
              </a:ext>
            </a:extLst>
          </p:cNvPr>
          <p:cNvSpPr txBox="1"/>
          <p:nvPr/>
        </p:nvSpPr>
        <p:spPr>
          <a:xfrm>
            <a:off x="4133002" y="1946613"/>
            <a:ext cx="785087" cy="307777"/>
          </a:xfrm>
          <a:prstGeom prst="rect">
            <a:avLst/>
          </a:prstGeom>
          <a:noFill/>
        </p:spPr>
        <p:txBody>
          <a:bodyPr wrap="none" rtlCol="0">
            <a:spAutoFit/>
          </a:bodyPr>
          <a:lstStyle/>
          <a:p>
            <a:r>
              <a:rPr lang="en-US" sz="1400"/>
              <a:t>Start =0</a:t>
            </a:r>
            <a:endParaRPr lang="en-ID" sz="1400"/>
          </a:p>
        </p:txBody>
      </p:sp>
      <p:sp>
        <p:nvSpPr>
          <p:cNvPr id="93" name="TextBox 92">
            <a:extLst>
              <a:ext uri="{FF2B5EF4-FFF2-40B4-BE49-F238E27FC236}">
                <a16:creationId xmlns:a16="http://schemas.microsoft.com/office/drawing/2014/main" id="{22B560BA-9E99-6A8B-E665-52BCAAC4F0F4}"/>
              </a:ext>
            </a:extLst>
          </p:cNvPr>
          <p:cNvSpPr txBox="1"/>
          <p:nvPr/>
        </p:nvSpPr>
        <p:spPr>
          <a:xfrm>
            <a:off x="3683915" y="3098688"/>
            <a:ext cx="906675" cy="307777"/>
          </a:xfrm>
          <a:prstGeom prst="rect">
            <a:avLst/>
          </a:prstGeom>
          <a:noFill/>
        </p:spPr>
        <p:txBody>
          <a:bodyPr wrap="square">
            <a:spAutoFit/>
          </a:bodyPr>
          <a:lstStyle/>
          <a:p>
            <a:r>
              <a:rPr lang="en-US" sz="1400"/>
              <a:t>Start =1</a:t>
            </a:r>
            <a:endParaRPr lang="en-ID" sz="1400"/>
          </a:p>
        </p:txBody>
      </p:sp>
      <p:sp>
        <p:nvSpPr>
          <p:cNvPr id="99" name="TextBox 98">
            <a:extLst>
              <a:ext uri="{FF2B5EF4-FFF2-40B4-BE49-F238E27FC236}">
                <a16:creationId xmlns:a16="http://schemas.microsoft.com/office/drawing/2014/main" id="{ACE76349-0482-BDAA-A536-C41DBF68EA29}"/>
              </a:ext>
            </a:extLst>
          </p:cNvPr>
          <p:cNvSpPr txBox="1"/>
          <p:nvPr/>
        </p:nvSpPr>
        <p:spPr>
          <a:xfrm rot="2208111">
            <a:off x="5599754" y="3049422"/>
            <a:ext cx="2052037" cy="307777"/>
          </a:xfrm>
          <a:prstGeom prst="rect">
            <a:avLst/>
          </a:prstGeom>
          <a:noFill/>
        </p:spPr>
        <p:txBody>
          <a:bodyPr wrap="none" rtlCol="0">
            <a:spAutoFit/>
          </a:bodyPr>
          <a:lstStyle/>
          <a:p>
            <a:r>
              <a:rPr lang="en-US" sz="1400"/>
              <a:t>Col_done &amp;&amp; Row_done</a:t>
            </a:r>
            <a:endParaRPr lang="en-ID" sz="1400"/>
          </a:p>
        </p:txBody>
      </p:sp>
      <p:sp>
        <p:nvSpPr>
          <p:cNvPr id="113" name="TextBox 112">
            <a:extLst>
              <a:ext uri="{FF2B5EF4-FFF2-40B4-BE49-F238E27FC236}">
                <a16:creationId xmlns:a16="http://schemas.microsoft.com/office/drawing/2014/main" id="{DD6C4F00-3789-8029-3F06-F2788FAA83AF}"/>
              </a:ext>
            </a:extLst>
          </p:cNvPr>
          <p:cNvSpPr txBox="1"/>
          <p:nvPr/>
        </p:nvSpPr>
        <p:spPr>
          <a:xfrm rot="796025">
            <a:off x="8398224" y="4689659"/>
            <a:ext cx="2104935" cy="307777"/>
          </a:xfrm>
          <a:prstGeom prst="rect">
            <a:avLst/>
          </a:prstGeom>
          <a:noFill/>
        </p:spPr>
        <p:txBody>
          <a:bodyPr wrap="none" rtlCol="0">
            <a:spAutoFit/>
          </a:bodyPr>
          <a:lstStyle/>
          <a:p>
            <a:r>
              <a:rPr lang="en-US" sz="1400"/>
              <a:t>Col_done &amp;&amp; !Row_done</a:t>
            </a:r>
            <a:endParaRPr lang="en-ID" sz="1400"/>
          </a:p>
        </p:txBody>
      </p:sp>
      <p:sp>
        <p:nvSpPr>
          <p:cNvPr id="118" name="TextBox 117">
            <a:extLst>
              <a:ext uri="{FF2B5EF4-FFF2-40B4-BE49-F238E27FC236}">
                <a16:creationId xmlns:a16="http://schemas.microsoft.com/office/drawing/2014/main" id="{3EFB875A-CA02-04CE-A26F-1CC7245A0337}"/>
              </a:ext>
            </a:extLst>
          </p:cNvPr>
          <p:cNvSpPr txBox="1"/>
          <p:nvPr/>
        </p:nvSpPr>
        <p:spPr>
          <a:xfrm rot="20485638">
            <a:off x="6200297" y="4640667"/>
            <a:ext cx="1023037" cy="307777"/>
          </a:xfrm>
          <a:prstGeom prst="rect">
            <a:avLst/>
          </a:prstGeom>
          <a:noFill/>
        </p:spPr>
        <p:txBody>
          <a:bodyPr wrap="none" rtlCol="0">
            <a:spAutoFit/>
          </a:bodyPr>
          <a:lstStyle/>
          <a:p>
            <a:r>
              <a:rPr lang="en-US" sz="1400"/>
              <a:t>!Col_done </a:t>
            </a:r>
            <a:endParaRPr lang="en-ID" sz="1400"/>
          </a:p>
        </p:txBody>
      </p:sp>
    </p:spTree>
    <p:extLst>
      <p:ext uri="{BB962C8B-B14F-4D97-AF65-F5344CB8AC3E}">
        <p14:creationId xmlns:p14="http://schemas.microsoft.com/office/powerpoint/2010/main" val="59866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F0BD-876E-9C70-518B-E773082C88A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5B77F06-D8E0-55A8-636B-989E37541BBE}"/>
              </a:ext>
            </a:extLst>
          </p:cNvPr>
          <p:cNvGraphicFramePr>
            <a:graphicFrameLocks noGrp="1"/>
          </p:cNvGraphicFramePr>
          <p:nvPr>
            <p:extLst>
              <p:ext uri="{D42A27DB-BD31-4B8C-83A1-F6EECF244321}">
                <p14:modId xmlns:p14="http://schemas.microsoft.com/office/powerpoint/2010/main" val="1573655117"/>
              </p:ext>
            </p:extLst>
          </p:nvPr>
        </p:nvGraphicFramePr>
        <p:xfrm>
          <a:off x="639097" y="719666"/>
          <a:ext cx="10589342" cy="3256827"/>
        </p:xfrm>
        <a:graphic>
          <a:graphicData uri="http://schemas.openxmlformats.org/drawingml/2006/table">
            <a:tbl>
              <a:tblPr firstRow="1" bandRow="1">
                <a:tableStyleId>{5C22544A-7EE6-4342-B048-85BDC9FD1C3A}</a:tableStyleId>
              </a:tblPr>
              <a:tblGrid>
                <a:gridCol w="2281084">
                  <a:extLst>
                    <a:ext uri="{9D8B030D-6E8A-4147-A177-3AD203B41FA5}">
                      <a16:colId xmlns:a16="http://schemas.microsoft.com/office/drawing/2014/main" val="3748840013"/>
                    </a:ext>
                  </a:extLst>
                </a:gridCol>
                <a:gridCol w="8308258">
                  <a:extLst>
                    <a:ext uri="{9D8B030D-6E8A-4147-A177-3AD203B41FA5}">
                      <a16:colId xmlns:a16="http://schemas.microsoft.com/office/drawing/2014/main" val="1695439846"/>
                    </a:ext>
                  </a:extLst>
                </a:gridCol>
              </a:tblGrid>
              <a:tr h="370840">
                <a:tc>
                  <a:txBody>
                    <a:bodyPr/>
                    <a:lstStyle/>
                    <a:p>
                      <a:pPr algn="ctr"/>
                      <a:r>
                        <a:rPr lang="en-US"/>
                        <a:t>State</a:t>
                      </a:r>
                      <a:endParaRPr lang="en-ID"/>
                    </a:p>
                  </a:txBody>
                  <a:tcPr/>
                </a:tc>
                <a:tc>
                  <a:txBody>
                    <a:bodyPr/>
                    <a:lstStyle/>
                    <a:p>
                      <a:pPr algn="ctr"/>
                      <a:r>
                        <a:rPr lang="en-US"/>
                        <a:t>Chức năng và ý nghĩa </a:t>
                      </a:r>
                      <a:endParaRPr lang="en-ID"/>
                    </a:p>
                  </a:txBody>
                  <a:tcPr/>
                </a:tc>
                <a:extLst>
                  <a:ext uri="{0D108BD9-81ED-4DB2-BD59-A6C34878D82A}">
                    <a16:rowId xmlns:a16="http://schemas.microsoft.com/office/drawing/2014/main" val="1293256659"/>
                  </a:ext>
                </a:extLst>
              </a:tr>
              <a:tr h="370840">
                <a:tc>
                  <a:txBody>
                    <a:bodyPr/>
                    <a:lstStyle/>
                    <a:p>
                      <a:pPr algn="ctr"/>
                      <a:r>
                        <a:rPr lang="en-US"/>
                        <a:t>Idle</a:t>
                      </a:r>
                      <a:endParaRPr lang="en-ID"/>
                    </a:p>
                  </a:txBody>
                  <a:tcPr/>
                </a:tc>
                <a:tc>
                  <a:txBody>
                    <a:bodyPr/>
                    <a:lstStyle/>
                    <a:p>
                      <a:pPr algn="ctr"/>
                      <a:r>
                        <a:rPr lang="en-US"/>
                        <a:t>Không làm gì, chỉ nạp giá trị 0 cho 2 thanh ghi Row và Col.</a:t>
                      </a:r>
                      <a:endParaRPr lang="en-ID"/>
                    </a:p>
                  </a:txBody>
                  <a:tcPr/>
                </a:tc>
                <a:extLst>
                  <a:ext uri="{0D108BD9-81ED-4DB2-BD59-A6C34878D82A}">
                    <a16:rowId xmlns:a16="http://schemas.microsoft.com/office/drawing/2014/main" val="2073467603"/>
                  </a:ext>
                </a:extLst>
              </a:tr>
              <a:tr h="370840">
                <a:tc>
                  <a:txBody>
                    <a:bodyPr/>
                    <a:lstStyle/>
                    <a:p>
                      <a:pPr algn="ctr"/>
                      <a:r>
                        <a:rPr lang="en-US"/>
                        <a:t>Load</a:t>
                      </a:r>
                    </a:p>
                  </a:txBody>
                  <a:tcPr/>
                </a:tc>
                <a:tc>
                  <a:txBody>
                    <a:bodyPr/>
                    <a:lstStyle/>
                    <a:p>
                      <a:pPr algn="ctr"/>
                      <a:r>
                        <a:rPr lang="en-US"/>
                        <a:t>Load giá trị window 3x3 vào 9 thanh ghi 8 bit.</a:t>
                      </a:r>
                      <a:endParaRPr lang="en-ID"/>
                    </a:p>
                  </a:txBody>
                  <a:tcPr/>
                </a:tc>
                <a:extLst>
                  <a:ext uri="{0D108BD9-81ED-4DB2-BD59-A6C34878D82A}">
                    <a16:rowId xmlns:a16="http://schemas.microsoft.com/office/drawing/2014/main" val="2685306200"/>
                  </a:ext>
                </a:extLst>
              </a:tr>
              <a:tr h="370840">
                <a:tc>
                  <a:txBody>
                    <a:bodyPr/>
                    <a:lstStyle/>
                    <a:p>
                      <a:pPr algn="ctr"/>
                      <a:r>
                        <a:rPr lang="en-US"/>
                        <a:t>Update_median</a:t>
                      </a:r>
                      <a:endParaRPr lang="en-ID"/>
                    </a:p>
                  </a:txBody>
                  <a:tcPr/>
                </a:tc>
                <a:tc>
                  <a:txBody>
                    <a:bodyPr/>
                    <a:lstStyle/>
                    <a:p>
                      <a:pPr algn="ctr"/>
                      <a:r>
                        <a:rPr lang="en-US"/>
                        <a:t>Lấy giá trị 9 thanh ghi vừa load trước đó để tính ra giá trị median bằng cách sort và cho phép thanh thế vào thanh ghi trung vị. Thanh ghi thứ 5. Phần tử chính giữa của ma trận 3x3</a:t>
                      </a:r>
                      <a:endParaRPr lang="en-ID"/>
                    </a:p>
                  </a:txBody>
                  <a:tcPr/>
                </a:tc>
                <a:extLst>
                  <a:ext uri="{0D108BD9-81ED-4DB2-BD59-A6C34878D82A}">
                    <a16:rowId xmlns:a16="http://schemas.microsoft.com/office/drawing/2014/main" val="4143564411"/>
                  </a:ext>
                </a:extLst>
              </a:tr>
              <a:tr h="488227">
                <a:tc>
                  <a:txBody>
                    <a:bodyPr/>
                    <a:lstStyle/>
                    <a:p>
                      <a:pPr algn="ctr"/>
                      <a:r>
                        <a:rPr lang="en-US"/>
                        <a:t>Write </a:t>
                      </a:r>
                      <a:endParaRPr lang="en-ID"/>
                    </a:p>
                  </a:txBody>
                  <a:tcPr/>
                </a:tc>
                <a:tc>
                  <a:txBody>
                    <a:bodyPr/>
                    <a:lstStyle/>
                    <a:p>
                      <a:pPr algn="ctr"/>
                      <a:r>
                        <a:rPr lang="en-US"/>
                        <a:t>Cập nhật giá trị từ thanh ghi trung vị median vào bộ nhớ buffer.</a:t>
                      </a:r>
                      <a:endParaRPr lang="en-ID"/>
                    </a:p>
                  </a:txBody>
                  <a:tcPr/>
                </a:tc>
                <a:extLst>
                  <a:ext uri="{0D108BD9-81ED-4DB2-BD59-A6C34878D82A}">
                    <a16:rowId xmlns:a16="http://schemas.microsoft.com/office/drawing/2014/main" val="1526122916"/>
                  </a:ext>
                </a:extLst>
              </a:tr>
              <a:tr h="370840">
                <a:tc>
                  <a:txBody>
                    <a:bodyPr/>
                    <a:lstStyle/>
                    <a:p>
                      <a:pPr algn="ctr"/>
                      <a:r>
                        <a:rPr lang="en-US"/>
                        <a:t>Inc_col</a:t>
                      </a:r>
                      <a:endParaRPr lang="en-ID"/>
                    </a:p>
                  </a:txBody>
                  <a:tcPr/>
                </a:tc>
                <a:tc>
                  <a:txBody>
                    <a:bodyPr/>
                    <a:lstStyle/>
                    <a:p>
                      <a:pPr algn="ctr"/>
                      <a:r>
                        <a:rPr lang="en-US"/>
                        <a:t>Tăng giá trị của thanh ghi Col  lên 1 đơn vị.</a:t>
                      </a:r>
                    </a:p>
                  </a:txBody>
                  <a:tcPr/>
                </a:tc>
                <a:extLst>
                  <a:ext uri="{0D108BD9-81ED-4DB2-BD59-A6C34878D82A}">
                    <a16:rowId xmlns:a16="http://schemas.microsoft.com/office/drawing/2014/main" val="3384610638"/>
                  </a:ext>
                </a:extLst>
              </a:tr>
              <a:tr h="370840">
                <a:tc>
                  <a:txBody>
                    <a:bodyPr/>
                    <a:lstStyle/>
                    <a:p>
                      <a:pPr algn="ctr"/>
                      <a:r>
                        <a:rPr lang="en-US"/>
                        <a:t>Inc_row</a:t>
                      </a:r>
                      <a:endParaRPr lang="en-ID"/>
                    </a:p>
                  </a:txBody>
                  <a:tcPr/>
                </a:tc>
                <a:tc>
                  <a:txBody>
                    <a:bodyPr/>
                    <a:lstStyle/>
                    <a:p>
                      <a:pPr algn="ctr"/>
                      <a:r>
                        <a:rPr lang="en-US"/>
                        <a:t>Tăng giá trị của thanh ghi Row lên 1 đơn vị và cho thanh ghi Col về 0.</a:t>
                      </a:r>
                    </a:p>
                  </a:txBody>
                  <a:tcPr/>
                </a:tc>
                <a:extLst>
                  <a:ext uri="{0D108BD9-81ED-4DB2-BD59-A6C34878D82A}">
                    <a16:rowId xmlns:a16="http://schemas.microsoft.com/office/drawing/2014/main" val="4214044018"/>
                  </a:ext>
                </a:extLst>
              </a:tr>
            </a:tbl>
          </a:graphicData>
        </a:graphic>
      </p:graphicFrame>
    </p:spTree>
    <p:extLst>
      <p:ext uri="{BB962C8B-B14F-4D97-AF65-F5344CB8AC3E}">
        <p14:creationId xmlns:p14="http://schemas.microsoft.com/office/powerpoint/2010/main" val="2376220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7F4AF-5F09-EA09-5223-0A6C99E0356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A2DF2670-D9E5-FFF9-ECCD-E355638B6644}"/>
              </a:ext>
            </a:extLst>
          </p:cNvPr>
          <p:cNvSpPr/>
          <p:nvPr/>
        </p:nvSpPr>
        <p:spPr>
          <a:xfrm>
            <a:off x="4324147" y="2113604"/>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Idle</a:t>
            </a:r>
            <a:endParaRPr lang="en-ID"/>
          </a:p>
        </p:txBody>
      </p:sp>
      <p:sp>
        <p:nvSpPr>
          <p:cNvPr id="5" name="Oval 4">
            <a:extLst>
              <a:ext uri="{FF2B5EF4-FFF2-40B4-BE49-F238E27FC236}">
                <a16:creationId xmlns:a16="http://schemas.microsoft.com/office/drawing/2014/main" id="{C14185CD-C9F5-55F6-6EA9-D9CC2B29882B}"/>
              </a:ext>
            </a:extLst>
          </p:cNvPr>
          <p:cNvSpPr/>
          <p:nvPr/>
        </p:nvSpPr>
        <p:spPr>
          <a:xfrm>
            <a:off x="2756961" y="322291"/>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Load</a:t>
            </a:r>
            <a:endParaRPr lang="en-ID"/>
          </a:p>
        </p:txBody>
      </p:sp>
      <p:sp>
        <p:nvSpPr>
          <p:cNvPr id="6" name="Oval 5">
            <a:extLst>
              <a:ext uri="{FF2B5EF4-FFF2-40B4-BE49-F238E27FC236}">
                <a16:creationId xmlns:a16="http://schemas.microsoft.com/office/drawing/2014/main" id="{F3615000-E803-5A17-3DDA-6F7985C5B1A9}"/>
              </a:ext>
            </a:extLst>
          </p:cNvPr>
          <p:cNvSpPr/>
          <p:nvPr/>
        </p:nvSpPr>
        <p:spPr>
          <a:xfrm>
            <a:off x="6262163" y="759784"/>
            <a:ext cx="1635760" cy="1366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Exe</a:t>
            </a:r>
            <a:endParaRPr lang="en-ID"/>
          </a:p>
        </p:txBody>
      </p:sp>
      <p:sp>
        <p:nvSpPr>
          <p:cNvPr id="7" name="Oval 6">
            <a:extLst>
              <a:ext uri="{FF2B5EF4-FFF2-40B4-BE49-F238E27FC236}">
                <a16:creationId xmlns:a16="http://schemas.microsoft.com/office/drawing/2014/main" id="{545EF00A-5C90-BBC4-E783-4F36EE5B1424}"/>
              </a:ext>
            </a:extLst>
          </p:cNvPr>
          <p:cNvSpPr/>
          <p:nvPr/>
        </p:nvSpPr>
        <p:spPr>
          <a:xfrm>
            <a:off x="4159041" y="4894291"/>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Inc_col</a:t>
            </a:r>
            <a:endParaRPr lang="en-ID"/>
          </a:p>
        </p:txBody>
      </p:sp>
      <p:sp>
        <p:nvSpPr>
          <p:cNvPr id="8" name="Oval 7">
            <a:extLst>
              <a:ext uri="{FF2B5EF4-FFF2-40B4-BE49-F238E27FC236}">
                <a16:creationId xmlns:a16="http://schemas.microsoft.com/office/drawing/2014/main" id="{DF61AF5A-A33D-D36F-6960-D0FD187FC8D7}"/>
              </a:ext>
            </a:extLst>
          </p:cNvPr>
          <p:cNvSpPr/>
          <p:nvPr/>
        </p:nvSpPr>
        <p:spPr>
          <a:xfrm>
            <a:off x="7333397" y="3336600"/>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Wb </a:t>
            </a:r>
            <a:endParaRPr lang="en-ID"/>
          </a:p>
        </p:txBody>
      </p:sp>
      <p:sp>
        <p:nvSpPr>
          <p:cNvPr id="9" name="Oval 8">
            <a:extLst>
              <a:ext uri="{FF2B5EF4-FFF2-40B4-BE49-F238E27FC236}">
                <a16:creationId xmlns:a16="http://schemas.microsoft.com/office/drawing/2014/main" id="{A49F6B88-53F1-17F3-D61F-E4291922FDE8}"/>
              </a:ext>
            </a:extLst>
          </p:cNvPr>
          <p:cNvSpPr/>
          <p:nvPr/>
        </p:nvSpPr>
        <p:spPr>
          <a:xfrm>
            <a:off x="10371237" y="4769455"/>
            <a:ext cx="1402080" cy="124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Inc_row</a:t>
            </a:r>
            <a:endParaRPr lang="en-ID"/>
          </a:p>
        </p:txBody>
      </p:sp>
      <p:cxnSp>
        <p:nvCxnSpPr>
          <p:cNvPr id="11" name="Connector: Curved 10">
            <a:extLst>
              <a:ext uri="{FF2B5EF4-FFF2-40B4-BE49-F238E27FC236}">
                <a16:creationId xmlns:a16="http://schemas.microsoft.com/office/drawing/2014/main" id="{EB7DA675-1C20-332C-998E-074E694FEAE4}"/>
              </a:ext>
            </a:extLst>
          </p:cNvPr>
          <p:cNvCxnSpPr>
            <a:cxnSpLocks/>
            <a:stCxn id="4" idx="2"/>
            <a:endCxn id="4" idx="0"/>
          </p:cNvCxnSpPr>
          <p:nvPr/>
        </p:nvCxnSpPr>
        <p:spPr>
          <a:xfrm rot="10800000" flipH="1">
            <a:off x="4324147" y="2113604"/>
            <a:ext cx="701040" cy="622300"/>
          </a:xfrm>
          <a:prstGeom prst="curvedConnector4">
            <a:avLst>
              <a:gd name="adj1" fmla="val -32609"/>
              <a:gd name="adj2" fmla="val 1367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7CD912-E570-E07A-507B-57F8E7968E06}"/>
              </a:ext>
            </a:extLst>
          </p:cNvPr>
          <p:cNvCxnSpPr>
            <a:cxnSpLocks/>
            <a:stCxn id="5" idx="6"/>
            <a:endCxn id="6" idx="2"/>
          </p:cNvCxnSpPr>
          <p:nvPr/>
        </p:nvCxnSpPr>
        <p:spPr>
          <a:xfrm>
            <a:off x="4159041" y="944591"/>
            <a:ext cx="2103122" cy="4984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D73AC0F-8ACC-952A-5B4C-BE2AB2F266FD}"/>
              </a:ext>
            </a:extLst>
          </p:cNvPr>
          <p:cNvCxnSpPr>
            <a:cxnSpLocks/>
            <a:stCxn id="6" idx="5"/>
            <a:endCxn id="8" idx="0"/>
          </p:cNvCxnSpPr>
          <p:nvPr/>
        </p:nvCxnSpPr>
        <p:spPr>
          <a:xfrm>
            <a:off x="7658371" y="1926182"/>
            <a:ext cx="376066" cy="1410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C9CFAE1-E978-88BE-A1C2-1CE461BB0DB3}"/>
              </a:ext>
            </a:extLst>
          </p:cNvPr>
          <p:cNvCxnSpPr>
            <a:cxnSpLocks/>
            <a:stCxn id="8" idx="5"/>
            <a:endCxn id="9" idx="1"/>
          </p:cNvCxnSpPr>
          <p:nvPr/>
        </p:nvCxnSpPr>
        <p:spPr>
          <a:xfrm>
            <a:off x="8530147" y="4398933"/>
            <a:ext cx="2046420" cy="552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BB2EB1C-85B5-0661-EE06-A7DBECFFCFA4}"/>
              </a:ext>
            </a:extLst>
          </p:cNvPr>
          <p:cNvCxnSpPr>
            <a:stCxn id="8" idx="3"/>
            <a:endCxn id="7" idx="7"/>
          </p:cNvCxnSpPr>
          <p:nvPr/>
        </p:nvCxnSpPr>
        <p:spPr>
          <a:xfrm flipH="1">
            <a:off x="5355791" y="4398933"/>
            <a:ext cx="2182936" cy="677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0C15916-918C-1623-F7A4-D9B2BC453CFF}"/>
              </a:ext>
            </a:extLst>
          </p:cNvPr>
          <p:cNvCxnSpPr>
            <a:stCxn id="8" idx="2"/>
            <a:endCxn id="4" idx="6"/>
          </p:cNvCxnSpPr>
          <p:nvPr/>
        </p:nvCxnSpPr>
        <p:spPr>
          <a:xfrm flipH="1" flipV="1">
            <a:off x="5726227" y="2735904"/>
            <a:ext cx="1607170" cy="12229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66C31D1-0CB9-D8FA-33D0-C9C15D560039}"/>
              </a:ext>
            </a:extLst>
          </p:cNvPr>
          <p:cNvCxnSpPr>
            <a:cxnSpLocks/>
            <a:stCxn id="9" idx="0"/>
          </p:cNvCxnSpPr>
          <p:nvPr/>
        </p:nvCxnSpPr>
        <p:spPr>
          <a:xfrm flipH="1" flipV="1">
            <a:off x="11053373" y="598746"/>
            <a:ext cx="18904" cy="4170709"/>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A3987CA-68CD-134B-B57E-325DC32D3BC0}"/>
              </a:ext>
            </a:extLst>
          </p:cNvPr>
          <p:cNvCxnSpPr>
            <a:cxnSpLocks/>
            <a:endCxn id="5" idx="7"/>
          </p:cNvCxnSpPr>
          <p:nvPr/>
        </p:nvCxnSpPr>
        <p:spPr>
          <a:xfrm flipH="1" flipV="1">
            <a:off x="3953711" y="504558"/>
            <a:ext cx="7099662" cy="1157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2A5091E6-3429-536A-C90E-E00D1C53F445}"/>
              </a:ext>
            </a:extLst>
          </p:cNvPr>
          <p:cNvCxnSpPr>
            <a:cxnSpLocks/>
            <a:stCxn id="4" idx="3"/>
            <a:endCxn id="5" idx="4"/>
          </p:cNvCxnSpPr>
          <p:nvPr/>
        </p:nvCxnSpPr>
        <p:spPr>
          <a:xfrm rot="5400000" flipH="1">
            <a:off x="3189216" y="1835676"/>
            <a:ext cx="1609046" cy="1071476"/>
          </a:xfrm>
          <a:prstGeom prst="curvedConnector3">
            <a:avLst>
              <a:gd name="adj1" fmla="val -255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963CB4DE-58F0-3DFE-69CE-BB530724E9A5}"/>
              </a:ext>
            </a:extLst>
          </p:cNvPr>
          <p:cNvCxnSpPr>
            <a:stCxn id="7" idx="3"/>
            <a:endCxn id="5" idx="2"/>
          </p:cNvCxnSpPr>
          <p:nvPr/>
        </p:nvCxnSpPr>
        <p:spPr>
          <a:xfrm rot="5400000" flipH="1">
            <a:off x="1054649" y="2646903"/>
            <a:ext cx="5012033" cy="1607410"/>
          </a:xfrm>
          <a:prstGeom prst="curvedConnector4">
            <a:avLst>
              <a:gd name="adj1" fmla="val -8198"/>
              <a:gd name="adj2" fmla="val 114222"/>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5F405C3-B496-2D26-A55C-F18ABF95FFFE}"/>
              </a:ext>
            </a:extLst>
          </p:cNvPr>
          <p:cNvSpPr txBox="1"/>
          <p:nvPr/>
        </p:nvSpPr>
        <p:spPr>
          <a:xfrm>
            <a:off x="4133002" y="1946613"/>
            <a:ext cx="785087" cy="307777"/>
          </a:xfrm>
          <a:prstGeom prst="rect">
            <a:avLst/>
          </a:prstGeom>
          <a:noFill/>
        </p:spPr>
        <p:txBody>
          <a:bodyPr wrap="none" rtlCol="0">
            <a:spAutoFit/>
          </a:bodyPr>
          <a:lstStyle/>
          <a:p>
            <a:r>
              <a:rPr lang="en-US" sz="1400"/>
              <a:t>Start =0</a:t>
            </a:r>
            <a:endParaRPr lang="en-ID" sz="1400"/>
          </a:p>
        </p:txBody>
      </p:sp>
      <p:sp>
        <p:nvSpPr>
          <p:cNvPr id="93" name="TextBox 92">
            <a:extLst>
              <a:ext uri="{FF2B5EF4-FFF2-40B4-BE49-F238E27FC236}">
                <a16:creationId xmlns:a16="http://schemas.microsoft.com/office/drawing/2014/main" id="{AB370B59-89D2-302C-CD56-78D9C5BB51F0}"/>
              </a:ext>
            </a:extLst>
          </p:cNvPr>
          <p:cNvSpPr txBox="1"/>
          <p:nvPr/>
        </p:nvSpPr>
        <p:spPr>
          <a:xfrm>
            <a:off x="3683915" y="3098688"/>
            <a:ext cx="906675" cy="307777"/>
          </a:xfrm>
          <a:prstGeom prst="rect">
            <a:avLst/>
          </a:prstGeom>
          <a:noFill/>
        </p:spPr>
        <p:txBody>
          <a:bodyPr wrap="square">
            <a:spAutoFit/>
          </a:bodyPr>
          <a:lstStyle/>
          <a:p>
            <a:r>
              <a:rPr lang="en-US" sz="1400"/>
              <a:t>Start =1</a:t>
            </a:r>
            <a:endParaRPr lang="en-ID" sz="1400"/>
          </a:p>
        </p:txBody>
      </p:sp>
      <p:sp>
        <p:nvSpPr>
          <p:cNvPr id="99" name="TextBox 98">
            <a:extLst>
              <a:ext uri="{FF2B5EF4-FFF2-40B4-BE49-F238E27FC236}">
                <a16:creationId xmlns:a16="http://schemas.microsoft.com/office/drawing/2014/main" id="{23A7A4A5-296A-E7F8-3317-BCA515EE55D9}"/>
              </a:ext>
            </a:extLst>
          </p:cNvPr>
          <p:cNvSpPr txBox="1"/>
          <p:nvPr/>
        </p:nvSpPr>
        <p:spPr>
          <a:xfrm rot="2208111">
            <a:off x="5599754" y="3049422"/>
            <a:ext cx="2052037" cy="307777"/>
          </a:xfrm>
          <a:prstGeom prst="rect">
            <a:avLst/>
          </a:prstGeom>
          <a:noFill/>
        </p:spPr>
        <p:txBody>
          <a:bodyPr wrap="none" rtlCol="0">
            <a:spAutoFit/>
          </a:bodyPr>
          <a:lstStyle/>
          <a:p>
            <a:r>
              <a:rPr lang="en-US" sz="1400"/>
              <a:t>Col_done &amp;&amp; Row_done</a:t>
            </a:r>
            <a:endParaRPr lang="en-ID" sz="1400"/>
          </a:p>
        </p:txBody>
      </p:sp>
      <p:sp>
        <p:nvSpPr>
          <p:cNvPr id="113" name="TextBox 112">
            <a:extLst>
              <a:ext uri="{FF2B5EF4-FFF2-40B4-BE49-F238E27FC236}">
                <a16:creationId xmlns:a16="http://schemas.microsoft.com/office/drawing/2014/main" id="{10A89408-EA5A-FDCB-147B-B42976F7C04F}"/>
              </a:ext>
            </a:extLst>
          </p:cNvPr>
          <p:cNvSpPr txBox="1"/>
          <p:nvPr/>
        </p:nvSpPr>
        <p:spPr>
          <a:xfrm rot="796025">
            <a:off x="8398224" y="4689659"/>
            <a:ext cx="2104935" cy="307777"/>
          </a:xfrm>
          <a:prstGeom prst="rect">
            <a:avLst/>
          </a:prstGeom>
          <a:noFill/>
        </p:spPr>
        <p:txBody>
          <a:bodyPr wrap="none" rtlCol="0">
            <a:spAutoFit/>
          </a:bodyPr>
          <a:lstStyle/>
          <a:p>
            <a:r>
              <a:rPr lang="en-US" sz="1400"/>
              <a:t>Col_done &amp;&amp; !Row_done</a:t>
            </a:r>
            <a:endParaRPr lang="en-ID" sz="1400"/>
          </a:p>
        </p:txBody>
      </p:sp>
      <p:sp>
        <p:nvSpPr>
          <p:cNvPr id="118" name="TextBox 117">
            <a:extLst>
              <a:ext uri="{FF2B5EF4-FFF2-40B4-BE49-F238E27FC236}">
                <a16:creationId xmlns:a16="http://schemas.microsoft.com/office/drawing/2014/main" id="{36D6A8BC-7935-8AE5-EF6D-089B8548FADE}"/>
              </a:ext>
            </a:extLst>
          </p:cNvPr>
          <p:cNvSpPr txBox="1"/>
          <p:nvPr/>
        </p:nvSpPr>
        <p:spPr>
          <a:xfrm rot="20485638">
            <a:off x="6200297" y="4640667"/>
            <a:ext cx="1023037" cy="307777"/>
          </a:xfrm>
          <a:prstGeom prst="rect">
            <a:avLst/>
          </a:prstGeom>
          <a:noFill/>
        </p:spPr>
        <p:txBody>
          <a:bodyPr wrap="none" rtlCol="0">
            <a:spAutoFit/>
          </a:bodyPr>
          <a:lstStyle/>
          <a:p>
            <a:r>
              <a:rPr lang="en-US" sz="1400"/>
              <a:t>!Col_done </a:t>
            </a:r>
            <a:endParaRPr lang="en-ID" sz="1400"/>
          </a:p>
        </p:txBody>
      </p:sp>
    </p:spTree>
    <p:extLst>
      <p:ext uri="{BB962C8B-B14F-4D97-AF65-F5344CB8AC3E}">
        <p14:creationId xmlns:p14="http://schemas.microsoft.com/office/powerpoint/2010/main" val="19624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89D75-52D9-1CA2-8DEF-4D97859F246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1C5B1D8-6B13-FE57-AC65-8CDF9A0EF966}"/>
              </a:ext>
            </a:extLst>
          </p:cNvPr>
          <p:cNvGraphicFramePr>
            <a:graphicFrameLocks noGrp="1"/>
          </p:cNvGraphicFramePr>
          <p:nvPr>
            <p:extLst>
              <p:ext uri="{D42A27DB-BD31-4B8C-83A1-F6EECF244321}">
                <p14:modId xmlns:p14="http://schemas.microsoft.com/office/powerpoint/2010/main" val="2953960183"/>
              </p:ext>
            </p:extLst>
          </p:nvPr>
        </p:nvGraphicFramePr>
        <p:xfrm>
          <a:off x="639097" y="719666"/>
          <a:ext cx="10589342" cy="2877029"/>
        </p:xfrm>
        <a:graphic>
          <a:graphicData uri="http://schemas.openxmlformats.org/drawingml/2006/table">
            <a:tbl>
              <a:tblPr firstRow="1" bandRow="1">
                <a:tableStyleId>{5C22544A-7EE6-4342-B048-85BDC9FD1C3A}</a:tableStyleId>
              </a:tblPr>
              <a:tblGrid>
                <a:gridCol w="2281084">
                  <a:extLst>
                    <a:ext uri="{9D8B030D-6E8A-4147-A177-3AD203B41FA5}">
                      <a16:colId xmlns:a16="http://schemas.microsoft.com/office/drawing/2014/main" val="3748840013"/>
                    </a:ext>
                  </a:extLst>
                </a:gridCol>
                <a:gridCol w="8308258">
                  <a:extLst>
                    <a:ext uri="{9D8B030D-6E8A-4147-A177-3AD203B41FA5}">
                      <a16:colId xmlns:a16="http://schemas.microsoft.com/office/drawing/2014/main" val="1695439846"/>
                    </a:ext>
                  </a:extLst>
                </a:gridCol>
              </a:tblGrid>
              <a:tr h="370840">
                <a:tc>
                  <a:txBody>
                    <a:bodyPr/>
                    <a:lstStyle/>
                    <a:p>
                      <a:pPr algn="ctr"/>
                      <a:r>
                        <a:rPr lang="en-US"/>
                        <a:t>State</a:t>
                      </a:r>
                      <a:endParaRPr lang="en-ID"/>
                    </a:p>
                  </a:txBody>
                  <a:tcPr/>
                </a:tc>
                <a:tc>
                  <a:txBody>
                    <a:bodyPr/>
                    <a:lstStyle/>
                    <a:p>
                      <a:pPr algn="ctr"/>
                      <a:r>
                        <a:rPr lang="en-US"/>
                        <a:t>Chức năng và ý nghĩa </a:t>
                      </a:r>
                      <a:endParaRPr lang="en-ID"/>
                    </a:p>
                  </a:txBody>
                  <a:tcPr/>
                </a:tc>
                <a:extLst>
                  <a:ext uri="{0D108BD9-81ED-4DB2-BD59-A6C34878D82A}">
                    <a16:rowId xmlns:a16="http://schemas.microsoft.com/office/drawing/2014/main" val="1293256659"/>
                  </a:ext>
                </a:extLst>
              </a:tr>
              <a:tr h="370840">
                <a:tc>
                  <a:txBody>
                    <a:bodyPr/>
                    <a:lstStyle/>
                    <a:p>
                      <a:pPr algn="ctr"/>
                      <a:r>
                        <a:rPr lang="en-US"/>
                        <a:t>Idle</a:t>
                      </a:r>
                      <a:endParaRPr lang="en-ID"/>
                    </a:p>
                  </a:txBody>
                  <a:tcPr/>
                </a:tc>
                <a:tc>
                  <a:txBody>
                    <a:bodyPr/>
                    <a:lstStyle/>
                    <a:p>
                      <a:pPr algn="ctr"/>
                      <a:r>
                        <a:rPr lang="en-US"/>
                        <a:t>Không làm gì, chỉ nạp giá trị 0 cho 2 thanh ghi Row và Col.</a:t>
                      </a:r>
                      <a:endParaRPr lang="en-ID"/>
                    </a:p>
                  </a:txBody>
                  <a:tcPr/>
                </a:tc>
                <a:extLst>
                  <a:ext uri="{0D108BD9-81ED-4DB2-BD59-A6C34878D82A}">
                    <a16:rowId xmlns:a16="http://schemas.microsoft.com/office/drawing/2014/main" val="2073467603"/>
                  </a:ext>
                </a:extLst>
              </a:tr>
              <a:tr h="370840">
                <a:tc>
                  <a:txBody>
                    <a:bodyPr/>
                    <a:lstStyle/>
                    <a:p>
                      <a:pPr algn="ctr"/>
                      <a:r>
                        <a:rPr lang="en-US"/>
                        <a:t>Load</a:t>
                      </a:r>
                    </a:p>
                  </a:txBody>
                  <a:tcPr/>
                </a:tc>
                <a:tc>
                  <a:txBody>
                    <a:bodyPr/>
                    <a:lstStyle/>
                    <a:p>
                      <a:pPr algn="ctr"/>
                      <a:r>
                        <a:rPr lang="en-US"/>
                        <a:t>Load 3 giá trị B G R vào 3 thanh ghi từ bộ nhớ.</a:t>
                      </a:r>
                      <a:endParaRPr lang="en-ID"/>
                    </a:p>
                  </a:txBody>
                  <a:tcPr/>
                </a:tc>
                <a:extLst>
                  <a:ext uri="{0D108BD9-81ED-4DB2-BD59-A6C34878D82A}">
                    <a16:rowId xmlns:a16="http://schemas.microsoft.com/office/drawing/2014/main" val="2685306200"/>
                  </a:ext>
                </a:extLst>
              </a:tr>
              <a:tr h="534602">
                <a:tc>
                  <a:txBody>
                    <a:bodyPr/>
                    <a:lstStyle/>
                    <a:p>
                      <a:pPr algn="ctr"/>
                      <a:r>
                        <a:rPr lang="en-US"/>
                        <a:t>Exe</a:t>
                      </a:r>
                      <a:endParaRPr lang="en-ID"/>
                    </a:p>
                  </a:txBody>
                  <a:tcPr/>
                </a:tc>
                <a:tc>
                  <a:txBody>
                    <a:bodyPr/>
                    <a:lstStyle/>
                    <a:p>
                      <a:pPr algn="ctr"/>
                      <a:r>
                        <a:rPr lang="en-US"/>
                        <a:t>Tính ra giá trị gray tương ứng với 3 giá trị B G R.</a:t>
                      </a:r>
                      <a:endParaRPr lang="en-ID"/>
                    </a:p>
                  </a:txBody>
                  <a:tcPr/>
                </a:tc>
                <a:extLst>
                  <a:ext uri="{0D108BD9-81ED-4DB2-BD59-A6C34878D82A}">
                    <a16:rowId xmlns:a16="http://schemas.microsoft.com/office/drawing/2014/main" val="4143564411"/>
                  </a:ext>
                </a:extLst>
              </a:tr>
              <a:tr h="488227">
                <a:tc>
                  <a:txBody>
                    <a:bodyPr/>
                    <a:lstStyle/>
                    <a:p>
                      <a:pPr algn="ctr"/>
                      <a:r>
                        <a:rPr lang="en-US"/>
                        <a:t>Wb </a:t>
                      </a:r>
                      <a:endParaRPr lang="en-ID"/>
                    </a:p>
                  </a:txBody>
                  <a:tcPr/>
                </a:tc>
                <a:tc>
                  <a:txBody>
                    <a:bodyPr/>
                    <a:lstStyle/>
                    <a:p>
                      <a:pPr algn="ctr"/>
                      <a:r>
                        <a:rPr lang="en-US"/>
                        <a:t>Cập nhật giá trị từ thanh ghi gray vào bộ nhớ buffer.</a:t>
                      </a:r>
                      <a:endParaRPr lang="en-ID"/>
                    </a:p>
                  </a:txBody>
                  <a:tcPr/>
                </a:tc>
                <a:extLst>
                  <a:ext uri="{0D108BD9-81ED-4DB2-BD59-A6C34878D82A}">
                    <a16:rowId xmlns:a16="http://schemas.microsoft.com/office/drawing/2014/main" val="1526122916"/>
                  </a:ext>
                </a:extLst>
              </a:tr>
              <a:tr h="370840">
                <a:tc>
                  <a:txBody>
                    <a:bodyPr/>
                    <a:lstStyle/>
                    <a:p>
                      <a:pPr algn="ctr"/>
                      <a:r>
                        <a:rPr lang="en-US"/>
                        <a:t>Inc_col</a:t>
                      </a:r>
                      <a:endParaRPr lang="en-ID"/>
                    </a:p>
                  </a:txBody>
                  <a:tcPr/>
                </a:tc>
                <a:tc>
                  <a:txBody>
                    <a:bodyPr/>
                    <a:lstStyle/>
                    <a:p>
                      <a:pPr algn="ctr"/>
                      <a:r>
                        <a:rPr lang="en-US"/>
                        <a:t>Tăng giá trị của thanh ghi Col  lên 1 đơn vị.</a:t>
                      </a:r>
                    </a:p>
                  </a:txBody>
                  <a:tcPr/>
                </a:tc>
                <a:extLst>
                  <a:ext uri="{0D108BD9-81ED-4DB2-BD59-A6C34878D82A}">
                    <a16:rowId xmlns:a16="http://schemas.microsoft.com/office/drawing/2014/main" val="3384610638"/>
                  </a:ext>
                </a:extLst>
              </a:tr>
              <a:tr h="370840">
                <a:tc>
                  <a:txBody>
                    <a:bodyPr/>
                    <a:lstStyle/>
                    <a:p>
                      <a:pPr algn="ctr"/>
                      <a:r>
                        <a:rPr lang="en-US"/>
                        <a:t>Inc_row</a:t>
                      </a:r>
                      <a:endParaRPr lang="en-ID"/>
                    </a:p>
                  </a:txBody>
                  <a:tcPr/>
                </a:tc>
                <a:tc>
                  <a:txBody>
                    <a:bodyPr/>
                    <a:lstStyle/>
                    <a:p>
                      <a:pPr algn="ctr"/>
                      <a:r>
                        <a:rPr lang="en-US"/>
                        <a:t>Tăng giá trị của thanh ghi Row lên 1 đơn vị và cho thanh ghi Col về 0.</a:t>
                      </a:r>
                    </a:p>
                  </a:txBody>
                  <a:tcPr/>
                </a:tc>
                <a:extLst>
                  <a:ext uri="{0D108BD9-81ED-4DB2-BD59-A6C34878D82A}">
                    <a16:rowId xmlns:a16="http://schemas.microsoft.com/office/drawing/2014/main" val="4214044018"/>
                  </a:ext>
                </a:extLst>
              </a:tr>
            </a:tbl>
          </a:graphicData>
        </a:graphic>
      </p:graphicFrame>
    </p:spTree>
    <p:extLst>
      <p:ext uri="{BB962C8B-B14F-4D97-AF65-F5344CB8AC3E}">
        <p14:creationId xmlns:p14="http://schemas.microsoft.com/office/powerpoint/2010/main" val="3819625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997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TotalTime>
  <Words>315</Words>
  <Application>Microsoft Office PowerPoint</Application>
  <PresentationFormat>Widescreen</PresentationFormat>
  <Paragraphs>50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Vũ Thành Lam</dc:creator>
  <cp:lastModifiedBy>Vũ Thành Lam</cp:lastModifiedBy>
  <cp:revision>16</cp:revision>
  <dcterms:created xsi:type="dcterms:W3CDTF">2025-12-21T10:22:16Z</dcterms:created>
  <dcterms:modified xsi:type="dcterms:W3CDTF">2025-12-21T14:23:28Z</dcterms:modified>
</cp:coreProperties>
</file>